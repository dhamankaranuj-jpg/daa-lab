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f017f0-c987-3681-86c1-6948df32831c}">
          <p14:sldIdLst>
            <p14:sldId id="256"/>
            <p14:sldId id="257"/>
            <p14:sldId id="258"/>
          </p14:sldIdLst>
        </p14:section>
        <p14:section name="Algorithm" id="{f0894f49-e212-7d35-c24b-7a61edf0cfad}">
          <p14:sldIdLst>
            <p14:sldId id="259"/>
            <p14:sldId id="260"/>
          </p14:sldIdLst>
        </p14:section>
        <p14:section name="Worked Example" id="{ffa623a6-73c0-a4ec-2f23-66c6ae7bd67f}">
          <p14:sldIdLst>
            <p14:sldId id="261"/>
            <p14:sldId id="262"/>
            <p14:sldId id="263"/>
          </p14:sldIdLst>
        </p14:section>
        <p14:section name="Analysis" id="{e8898d91-704a-a468-fdfb-4783708636df}">
          <p14:sldIdLst>
            <p14:sldId id="264"/>
            <p14:sldId id="265"/>
          </p14:sldIdLst>
        </p14:section>
        <p14:section name="Wrap-up" id="{4f5d465b-3513-255e-bbb6-f07091481133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Dijkstra's algorithm finds the shortest path from one source vertex to all other vertices in a weighted graph. This deck was generated using Claude.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facts: single-source shortest path, non-negative weights, greedy strategy, proposed by Edsger Dijkstra in 1956.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ideas: keep distance estimates, always settle the closest unvisited vertex, and relax its outgoing edges.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steps. Emphasise that once a vertex is extracted from the queue, its distance is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pseudocode top to bottom: initialise, then repeatedly extract the minimum and relax its edges.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vertices A to E. We start from A. The numbers on the edges are weights.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shows the distances after processing the picked vertex. Distance to E improves from 12 to 10 once D is processed.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answer: distances A=0, B=3, C=2, D=8, E=10. The amber edges show the shortest-path tree from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depends on the priority queue. Binary heap gives O((V+E) log V). Space is O(V).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uses: maps, routers, travel planning, games. Limitation: negative weights break the greedy assumption.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three takeaways. This presentation was generated using Claude.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783080"/>
            <a:ext cx="67665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9476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Generated using Claude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754880" y="6355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Anuj Dhamankar  |  PRN: 25070521255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LOS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822960" y="13258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DESIGN AND ANALYSIS OF ALGORITHMS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178308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Dijkstra's Algorithm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794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Single-source shortest path in weighted graphs</a:t>
            </a:r>
            <a:endParaRPr lang="en-US" sz="2200" dirty="0"/>
          </a:p>
        </p:txBody>
      </p:sp>
      <p:sp>
        <p:nvSpPr>
          <p:cNvPr id="5" name="Student name"/>
          <p:cNvSpPr txBox="1"/>
          <p:nvPr/>
        </p:nvSpPr>
        <p:spPr>
          <a:xfrm>
            <a:off x="822960" y="4572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Anuj Dhamankar</a:t>
            </a:r>
            <a:endParaRPr lang="en-US" sz="2200" dirty="0"/>
          </a:p>
        </p:txBody>
      </p:sp>
      <p:sp>
        <p:nvSpPr>
          <p:cNvPr id="6" name="Student PRN"/>
          <p:cNvSpPr txBox="1"/>
          <p:nvPr/>
        </p:nvSpPr>
        <p:spPr>
          <a:xfrm>
            <a:off x="822960" y="5029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PRN: 25070521255</a:t>
            </a:r>
            <a:endParaRPr lang="en-US" sz="1800" dirty="0"/>
          </a:p>
        </p:txBody>
      </p:sp>
      <p:sp>
        <p:nvSpPr>
          <p:cNvPr id="7" name="AI credit"/>
          <p:cNvSpPr txBox="1"/>
          <p:nvPr/>
        </p:nvSpPr>
        <p:spPr>
          <a:xfrm>
            <a:off x="822960" y="5760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Generated using Claude</a:t>
            </a:r>
            <a:endParaRPr lang="en-US" sz="2000" dirty="0"/>
          </a:p>
        </p:txBody>
      </p:sp>
      <p:sp>
        <p:nvSpPr>
          <p:cNvPr id="8" name="Edge A-B"/>
          <p:cNvSpPr/>
          <p:nvPr/>
        </p:nvSpPr>
        <p:spPr>
          <a:xfrm flipV="1">
            <a:off x="7680960" y="2468880"/>
            <a:ext cx="1755648" cy="109728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9" name="Edge A-C"/>
          <p:cNvSpPr/>
          <p:nvPr/>
        </p:nvSpPr>
        <p:spPr>
          <a:xfrm>
            <a:off x="7680960" y="3566160"/>
            <a:ext cx="1755648" cy="1097280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</a:ln>
        </p:spPr>
      </p:sp>
      <p:sp>
        <p:nvSpPr>
          <p:cNvPr id="10" name="Edge B-C"/>
          <p:cNvSpPr/>
          <p:nvPr/>
        </p:nvSpPr>
        <p:spPr>
          <a:xfrm>
            <a:off x="9436608" y="2468880"/>
            <a:ext cx="0" cy="2194560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</a:ln>
        </p:spPr>
      </p:sp>
      <p:sp>
        <p:nvSpPr>
          <p:cNvPr id="11" name="Edge B-D"/>
          <p:cNvSpPr/>
          <p:nvPr/>
        </p:nvSpPr>
        <p:spPr>
          <a:xfrm>
            <a:off x="9436608" y="2468880"/>
            <a:ext cx="1975104" cy="0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</a:ln>
        </p:spPr>
      </p:sp>
      <p:sp>
        <p:nvSpPr>
          <p:cNvPr id="12" name="Edge C-D"/>
          <p:cNvSpPr/>
          <p:nvPr/>
        </p:nvSpPr>
        <p:spPr>
          <a:xfrm flipV="1">
            <a:off x="9436608" y="2468880"/>
            <a:ext cx="1975104" cy="219456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13" name="Edge C-E"/>
          <p:cNvSpPr/>
          <p:nvPr/>
        </p:nvSpPr>
        <p:spPr>
          <a:xfrm>
            <a:off x="9436608" y="4663440"/>
            <a:ext cx="1975104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14" name="Edge D-E"/>
          <p:cNvSpPr/>
          <p:nvPr/>
        </p:nvSpPr>
        <p:spPr>
          <a:xfrm>
            <a:off x="11411712" y="2468880"/>
            <a:ext cx="0" cy="2194560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</a:ln>
        </p:spPr>
      </p:sp>
      <p:sp>
        <p:nvSpPr>
          <p:cNvPr id="15" name="Node A"/>
          <p:cNvSpPr txBox="1"/>
          <p:nvPr/>
        </p:nvSpPr>
        <p:spPr>
          <a:xfrm>
            <a:off x="7424928" y="3310128"/>
            <a:ext cx="512064" cy="512064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</a:t>
            </a:r>
            <a:endParaRPr lang="en-US" sz="1600" dirty="0"/>
          </a:p>
        </p:txBody>
      </p:sp>
      <p:sp>
        <p:nvSpPr>
          <p:cNvPr id="16" name="Node B"/>
          <p:cNvSpPr txBox="1"/>
          <p:nvPr/>
        </p:nvSpPr>
        <p:spPr>
          <a:xfrm>
            <a:off x="9180576" y="2212848"/>
            <a:ext cx="512064" cy="51206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7" name="Node C"/>
          <p:cNvSpPr txBox="1"/>
          <p:nvPr/>
        </p:nvSpPr>
        <p:spPr>
          <a:xfrm>
            <a:off x="9180576" y="4407408"/>
            <a:ext cx="512064" cy="51206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8" name="Node D"/>
          <p:cNvSpPr txBox="1"/>
          <p:nvPr/>
        </p:nvSpPr>
        <p:spPr>
          <a:xfrm>
            <a:off x="11155680" y="2212848"/>
            <a:ext cx="512064" cy="51206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Node E"/>
          <p:cNvSpPr txBox="1"/>
          <p:nvPr/>
        </p:nvSpPr>
        <p:spPr>
          <a:xfrm>
            <a:off x="11155680" y="4407408"/>
            <a:ext cx="512064" cy="51206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Is Dijkstra's Algorithm?</a:t>
            </a:r>
            <a:endParaRPr lang="en-US" sz="3600" dirty="0"/>
          </a:p>
        </p:txBody>
      </p:sp>
      <p:sp>
        <p:nvSpPr>
          <p:cNvPr id="3" name="Key points"/>
          <p:cNvSpPr txBox="1"/>
          <p:nvPr/>
        </p:nvSpPr>
        <p:spPr>
          <a:xfrm>
            <a:off x="640080" y="160020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Finds the shortest path from one source vertex to every other vertex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Works on weighted graphs where all edge weights are non-negative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 greedy algorithm: it always makes the locally best choice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Named after Edsger W. Dijkstra, who proposed it in 1956</a:t>
            </a:r>
            <a:endParaRPr lang="en-US" sz="2000" dirty="0"/>
          </a:p>
        </p:txBody>
      </p:sp>
      <p:sp>
        <p:nvSpPr>
          <p:cNvPr id="4" name="Stat card 1"/>
          <p:cNvSpPr/>
          <p:nvPr/>
        </p:nvSpPr>
        <p:spPr>
          <a:xfrm>
            <a:off x="7315200" y="1554480"/>
            <a:ext cx="4206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tat 1"/>
          <p:cNvSpPr txBox="1"/>
          <p:nvPr/>
        </p:nvSpPr>
        <p:spPr>
          <a:xfrm>
            <a:off x="7589520" y="155448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1956</a:t>
            </a:r>
            <a:endParaRPr lang="en-US" sz="3800" dirty="0"/>
          </a:p>
        </p:txBody>
      </p:sp>
      <p:sp>
        <p:nvSpPr>
          <p:cNvPr id="6" name="Stat label 1"/>
          <p:cNvSpPr txBox="1"/>
          <p:nvPr/>
        </p:nvSpPr>
        <p:spPr>
          <a:xfrm>
            <a:off x="9646920" y="155448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Year it was proposed</a:t>
            </a:r>
            <a:endParaRPr lang="en-US" sz="1600" dirty="0"/>
          </a:p>
        </p:txBody>
      </p:sp>
      <p:sp>
        <p:nvSpPr>
          <p:cNvPr id="7" name="Stat card 2"/>
          <p:cNvSpPr/>
          <p:nvPr/>
        </p:nvSpPr>
        <p:spPr>
          <a:xfrm>
            <a:off x="7315200" y="3063240"/>
            <a:ext cx="4206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tat 2"/>
          <p:cNvSpPr txBox="1"/>
          <p:nvPr/>
        </p:nvSpPr>
        <p:spPr>
          <a:xfrm>
            <a:off x="7589520" y="306324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Greedy</a:t>
            </a:r>
            <a:endParaRPr lang="en-US" sz="3800" dirty="0"/>
          </a:p>
        </p:txBody>
      </p:sp>
      <p:sp>
        <p:nvSpPr>
          <p:cNvPr id="9" name="Stat label 2"/>
          <p:cNvSpPr txBox="1"/>
          <p:nvPr/>
        </p:nvSpPr>
        <p:spPr>
          <a:xfrm>
            <a:off x="9646920" y="30632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Design strategy used</a:t>
            </a:r>
            <a:endParaRPr lang="en-US" sz="1600" dirty="0"/>
          </a:p>
        </p:txBody>
      </p:sp>
      <p:sp>
        <p:nvSpPr>
          <p:cNvPr id="10" name="Stat card 3"/>
          <p:cNvSpPr/>
          <p:nvPr/>
        </p:nvSpPr>
        <p:spPr>
          <a:xfrm>
            <a:off x="7315200" y="4572000"/>
            <a:ext cx="4206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tat 3"/>
          <p:cNvSpPr txBox="1"/>
          <p:nvPr/>
        </p:nvSpPr>
        <p:spPr>
          <a:xfrm>
            <a:off x="7589520" y="457200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0</a:t>
            </a:r>
            <a:endParaRPr lang="en-US" sz="3800" dirty="0"/>
          </a:p>
        </p:txBody>
      </p:sp>
      <p:sp>
        <p:nvSpPr>
          <p:cNvPr id="12" name="Stat label 3"/>
          <p:cNvSpPr txBox="1"/>
          <p:nvPr/>
        </p:nvSpPr>
        <p:spPr>
          <a:xfrm>
            <a:off x="9646920" y="457200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Required edge weights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Core Idea</a:t>
            </a:r>
            <a:endParaRPr lang="en-US" sz="3600" dirty="0"/>
          </a:p>
        </p:txBody>
      </p:sp>
      <p:sp>
        <p:nvSpPr>
          <p:cNvPr id="3" name="Idea card 1"/>
          <p:cNvSpPr/>
          <p:nvPr/>
        </p:nvSpPr>
        <p:spPr>
          <a:xfrm>
            <a:off x="640080" y="1554480"/>
            <a:ext cx="3474720" cy="36576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dea 1 circle"/>
          <p:cNvSpPr/>
          <p:nvPr/>
        </p:nvSpPr>
        <p:spPr>
          <a:xfrm>
            <a:off x="960120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dea 1 icon" descr="Idea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2125980"/>
            <a:ext cx="411480" cy="411480"/>
          </a:xfrm>
          <a:prstGeom prst="rect">
            <a:avLst/>
          </a:prstGeom>
        </p:spPr>
      </p:pic>
      <p:sp>
        <p:nvSpPr>
          <p:cNvPr id="6" name="Idea head 1"/>
          <p:cNvSpPr txBox="1"/>
          <p:nvPr/>
        </p:nvSpPr>
        <p:spPr>
          <a:xfrm>
            <a:off x="96012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Track distances</a:t>
            </a:r>
            <a:endParaRPr lang="en-US" sz="2200" dirty="0"/>
          </a:p>
        </p:txBody>
      </p:sp>
      <p:sp>
        <p:nvSpPr>
          <p:cNvPr id="7" name="Idea text 1"/>
          <p:cNvSpPr txBox="1"/>
          <p:nvPr/>
        </p:nvSpPr>
        <p:spPr>
          <a:xfrm>
            <a:off x="960120" y="35204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Keep the best known distance to every vertex. The source starts at 0 and all others at ∞.</a:t>
            </a:r>
            <a:endParaRPr lang="en-US" sz="1600" dirty="0"/>
          </a:p>
        </p:txBody>
      </p:sp>
      <p:sp>
        <p:nvSpPr>
          <p:cNvPr id="8" name="Idea card 2"/>
          <p:cNvSpPr/>
          <p:nvPr/>
        </p:nvSpPr>
        <p:spPr>
          <a:xfrm>
            <a:off x="4343400" y="1554480"/>
            <a:ext cx="3474720" cy="36576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dea 2 circle"/>
          <p:cNvSpPr/>
          <p:nvPr/>
        </p:nvSpPr>
        <p:spPr>
          <a:xfrm>
            <a:off x="4663440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dea 2 icon" descr="Idea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0" y="2125980"/>
            <a:ext cx="411480" cy="411480"/>
          </a:xfrm>
          <a:prstGeom prst="rect">
            <a:avLst/>
          </a:prstGeom>
        </p:spPr>
      </p:pic>
      <p:sp>
        <p:nvSpPr>
          <p:cNvPr id="11" name="Idea head 2"/>
          <p:cNvSpPr txBox="1"/>
          <p:nvPr/>
        </p:nvSpPr>
        <p:spPr>
          <a:xfrm>
            <a:off x="466344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Pick the closest</a:t>
            </a:r>
            <a:endParaRPr lang="en-US" sz="2200" dirty="0"/>
          </a:p>
        </p:txBody>
      </p:sp>
      <p:sp>
        <p:nvSpPr>
          <p:cNvPr id="12" name="Idea text 2"/>
          <p:cNvSpPr txBox="1"/>
          <p:nvPr/>
        </p:nvSpPr>
        <p:spPr>
          <a:xfrm>
            <a:off x="4663440" y="35204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Always choose the unvisited vertex with the smallest distance. That distance is now final.</a:t>
            </a:r>
            <a:endParaRPr lang="en-US" sz="1600" dirty="0"/>
          </a:p>
        </p:txBody>
      </p:sp>
      <p:sp>
        <p:nvSpPr>
          <p:cNvPr id="13" name="Idea card 3"/>
          <p:cNvSpPr/>
          <p:nvPr/>
        </p:nvSpPr>
        <p:spPr>
          <a:xfrm>
            <a:off x="8046720" y="1554480"/>
            <a:ext cx="3474720" cy="36576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dea 3 circle"/>
          <p:cNvSpPr/>
          <p:nvPr/>
        </p:nvSpPr>
        <p:spPr>
          <a:xfrm>
            <a:off x="8366760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dea 3 icon" descr="Idea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2125980"/>
            <a:ext cx="411480" cy="411480"/>
          </a:xfrm>
          <a:prstGeom prst="rect">
            <a:avLst/>
          </a:prstGeom>
        </p:spPr>
      </p:pic>
      <p:sp>
        <p:nvSpPr>
          <p:cNvPr id="16" name="Idea head 3"/>
          <p:cNvSpPr txBox="1"/>
          <p:nvPr/>
        </p:nvSpPr>
        <p:spPr>
          <a:xfrm>
            <a:off x="836676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Relax neighbours</a:t>
            </a:r>
            <a:endParaRPr lang="en-US" sz="2200" dirty="0"/>
          </a:p>
        </p:txBody>
      </p:sp>
      <p:sp>
        <p:nvSpPr>
          <p:cNvPr id="17" name="Idea text 3"/>
          <p:cNvSpPr txBox="1"/>
          <p:nvPr/>
        </p:nvSpPr>
        <p:spPr>
          <a:xfrm>
            <a:off x="8366760" y="35204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For each edge u → v, if dist[u] + w &lt; dist[v], then update dist[v].</a:t>
            </a:r>
            <a:endParaRPr lang="en-US" sz="1600" dirty="0"/>
          </a:p>
        </p:txBody>
      </p:sp>
      <p:sp>
        <p:nvSpPr>
          <p:cNvPr id="18" name="Idea footer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Repeat until every vertex has been visited.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Algorithm Steps</a:t>
            </a:r>
            <a:endParaRPr lang="en-US" sz="3600" dirty="0"/>
          </a:p>
        </p:txBody>
      </p:sp>
      <p:sp>
        <p:nvSpPr>
          <p:cNvPr id="3" name="Step connector"/>
          <p:cNvSpPr/>
          <p:nvPr/>
        </p:nvSpPr>
        <p:spPr>
          <a:xfrm>
            <a:off x="1005840" y="2103120"/>
            <a:ext cx="8924544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Step 1"/>
          <p:cNvSpPr txBox="1"/>
          <p:nvPr/>
        </p:nvSpPr>
        <p:spPr>
          <a:xfrm>
            <a:off x="640080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Step head 1"/>
          <p:cNvSpPr txBox="1"/>
          <p:nvPr/>
        </p:nvSpPr>
        <p:spPr>
          <a:xfrm>
            <a:off x="640080" y="26974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Initialise</a:t>
            </a:r>
            <a:endParaRPr lang="en-US" sz="2000" dirty="0"/>
          </a:p>
        </p:txBody>
      </p:sp>
      <p:sp>
        <p:nvSpPr>
          <p:cNvPr id="6" name="Step text 1"/>
          <p:cNvSpPr txBox="1"/>
          <p:nvPr/>
        </p:nvSpPr>
        <p:spPr>
          <a:xfrm>
            <a:off x="640080" y="32004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Set dist[source] = 0 and every other distance to ∞.</a:t>
            </a:r>
            <a:endParaRPr lang="en-US" sz="1600" dirty="0"/>
          </a:p>
        </p:txBody>
      </p:sp>
      <p:sp>
        <p:nvSpPr>
          <p:cNvPr id="7" name="Step 2"/>
          <p:cNvSpPr txBox="1"/>
          <p:nvPr/>
        </p:nvSpPr>
        <p:spPr>
          <a:xfrm>
            <a:off x="2871216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8" name="Step head 2"/>
          <p:cNvSpPr txBox="1"/>
          <p:nvPr/>
        </p:nvSpPr>
        <p:spPr>
          <a:xfrm>
            <a:off x="2871216" y="26974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Fill the queue</a:t>
            </a:r>
            <a:endParaRPr lang="en-US" sz="2000" dirty="0"/>
          </a:p>
        </p:txBody>
      </p:sp>
      <p:sp>
        <p:nvSpPr>
          <p:cNvPr id="9" name="Step text 2"/>
          <p:cNvSpPr txBox="1"/>
          <p:nvPr/>
        </p:nvSpPr>
        <p:spPr>
          <a:xfrm>
            <a:off x="2871216" y="32004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Put all vertices into a priority queue.</a:t>
            </a:r>
            <a:endParaRPr lang="en-US" sz="1600" dirty="0"/>
          </a:p>
        </p:txBody>
      </p:sp>
      <p:sp>
        <p:nvSpPr>
          <p:cNvPr id="10" name="Step 3"/>
          <p:cNvSpPr txBox="1"/>
          <p:nvPr/>
        </p:nvSpPr>
        <p:spPr>
          <a:xfrm>
            <a:off x="5102352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1" name="Step head 3"/>
          <p:cNvSpPr txBox="1"/>
          <p:nvPr/>
        </p:nvSpPr>
        <p:spPr>
          <a:xfrm>
            <a:off x="5102352" y="26974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Extract minimum</a:t>
            </a:r>
            <a:endParaRPr lang="en-US" sz="2000" dirty="0"/>
          </a:p>
        </p:txBody>
      </p:sp>
      <p:sp>
        <p:nvSpPr>
          <p:cNvPr id="12" name="Step text 3"/>
          <p:cNvSpPr txBox="1"/>
          <p:nvPr/>
        </p:nvSpPr>
        <p:spPr>
          <a:xfrm>
            <a:off x="5102352" y="32004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Remove the vertex u with the smallest distance.</a:t>
            </a:r>
            <a:endParaRPr lang="en-US" sz="1600" dirty="0"/>
          </a:p>
        </p:txBody>
      </p:sp>
      <p:sp>
        <p:nvSpPr>
          <p:cNvPr id="13" name="Step 4"/>
          <p:cNvSpPr txBox="1"/>
          <p:nvPr/>
        </p:nvSpPr>
        <p:spPr>
          <a:xfrm>
            <a:off x="7333488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4" name="Step head 4"/>
          <p:cNvSpPr txBox="1"/>
          <p:nvPr/>
        </p:nvSpPr>
        <p:spPr>
          <a:xfrm>
            <a:off x="7333488" y="26974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Relax edges</a:t>
            </a:r>
            <a:endParaRPr lang="en-US" sz="2000" dirty="0"/>
          </a:p>
        </p:txBody>
      </p:sp>
      <p:sp>
        <p:nvSpPr>
          <p:cNvPr id="15" name="Step text 4"/>
          <p:cNvSpPr txBox="1"/>
          <p:nvPr/>
        </p:nvSpPr>
        <p:spPr>
          <a:xfrm>
            <a:off x="7333488" y="32004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Update the distance of each neighbour v of u.</a:t>
            </a:r>
            <a:endParaRPr lang="en-US" sz="1600" dirty="0"/>
          </a:p>
        </p:txBody>
      </p:sp>
      <p:sp>
        <p:nvSpPr>
          <p:cNvPr id="16" name="Step 5"/>
          <p:cNvSpPr txBox="1"/>
          <p:nvPr/>
        </p:nvSpPr>
        <p:spPr>
          <a:xfrm>
            <a:off x="9564624" y="17373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5</a:t>
            </a:r>
            <a:endParaRPr lang="en-US" sz="2200" dirty="0"/>
          </a:p>
        </p:txBody>
      </p:sp>
      <p:sp>
        <p:nvSpPr>
          <p:cNvPr id="17" name="Step head 5"/>
          <p:cNvSpPr txBox="1"/>
          <p:nvPr/>
        </p:nvSpPr>
        <p:spPr>
          <a:xfrm>
            <a:off x="9564624" y="26974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Repeat</a:t>
            </a:r>
            <a:endParaRPr lang="en-US" sz="2000" dirty="0"/>
          </a:p>
        </p:txBody>
      </p:sp>
      <p:sp>
        <p:nvSpPr>
          <p:cNvPr id="18" name="Step text 5"/>
          <p:cNvSpPr txBox="1"/>
          <p:nvPr/>
        </p:nvSpPr>
        <p:spPr>
          <a:xfrm>
            <a:off x="9564624" y="32004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Stop when the queue is empty.</a:t>
            </a:r>
            <a:endParaRPr lang="en-US" sz="1600" dirty="0"/>
          </a:p>
        </p:txBody>
      </p:sp>
      <p:sp>
        <p:nvSpPr>
          <p:cNvPr id="19" name="Result box"/>
          <p:cNvSpPr/>
          <p:nvPr/>
        </p:nvSpPr>
        <p:spPr>
          <a:xfrm>
            <a:off x="640080" y="4572000"/>
            <a:ext cx="1088136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0" name="Result text"/>
          <p:cNvSpPr txBox="1"/>
          <p:nvPr/>
        </p:nvSpPr>
        <p:spPr>
          <a:xfrm>
            <a:off x="1005840" y="4572000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Result: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dist[ ] holds the shortest distance from the source to every vertex, and prev[ ] lets you rebuild the actual path.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Pseudocode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640080" y="1554480"/>
            <a:ext cx="6583680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/>
        </p:spPr>
      </p:sp>
      <p:sp>
        <p:nvSpPr>
          <p:cNvPr id="4" name="Pseudocode"/>
          <p:cNvSpPr txBox="1"/>
          <p:nvPr/>
        </p:nvSpPr>
        <p:spPr>
          <a:xfrm>
            <a:off x="914400" y="1737360"/>
            <a:ext cx="6126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Dijkstra(Graph, source):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each vertex v: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dist[v] = INFINITY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prev[v] = NULL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dist[source] =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 = priority queue of all vertices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Q is not empty: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 = vertex in Q with smallest dist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remove u from Q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each neighbour v of u: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alt = dist[u] + weight(u, v)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alt &lt; dist[v]: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dist[v] = alt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prev[v] = 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dist, prev</a:t>
            </a:r>
            <a:endParaRPr lang="en-US" sz="1400" dirty="0"/>
          </a:p>
        </p:txBody>
      </p:sp>
      <p:sp>
        <p:nvSpPr>
          <p:cNvPr id="5" name="Note card 1"/>
          <p:cNvSpPr/>
          <p:nvPr/>
        </p:nvSpPr>
        <p:spPr>
          <a:xfrm>
            <a:off x="7589520" y="1554480"/>
            <a:ext cx="39319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Note 1"/>
          <p:cNvSpPr txBox="1"/>
          <p:nvPr/>
        </p:nvSpPr>
        <p:spPr>
          <a:xfrm>
            <a:off x="7863840" y="1719072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Setup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Every distance starts at ∞, except the source which is 0.</a:t>
            </a:r>
            <a:endParaRPr lang="en-US" sz="1800" dirty="0"/>
          </a:p>
        </p:txBody>
      </p:sp>
      <p:sp>
        <p:nvSpPr>
          <p:cNvPr id="7" name="Note card 2"/>
          <p:cNvSpPr/>
          <p:nvPr/>
        </p:nvSpPr>
        <p:spPr>
          <a:xfrm>
            <a:off x="7589520" y="3108960"/>
            <a:ext cx="39319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Note 2"/>
          <p:cNvSpPr txBox="1"/>
          <p:nvPr/>
        </p:nvSpPr>
        <p:spPr>
          <a:xfrm>
            <a:off x="7863840" y="3273552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Main loop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Take the closest vertex, then relax each of its edges.</a:t>
            </a:r>
            <a:endParaRPr lang="en-US" sz="1800" dirty="0"/>
          </a:p>
        </p:txBody>
      </p:sp>
      <p:sp>
        <p:nvSpPr>
          <p:cNvPr id="9" name="Note card 3"/>
          <p:cNvSpPr/>
          <p:nvPr/>
        </p:nvSpPr>
        <p:spPr>
          <a:xfrm>
            <a:off x="7589520" y="4663440"/>
            <a:ext cx="39319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Note 3"/>
          <p:cNvSpPr txBox="1"/>
          <p:nvPr/>
        </p:nvSpPr>
        <p:spPr>
          <a:xfrm>
            <a:off x="7863840" y="4828032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prev[ ]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Stores the route, so the path can be traced back from any vertex.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Worked Example: The Graph</a:t>
            </a:r>
            <a:endParaRPr lang="en-US" sz="3600" dirty="0"/>
          </a:p>
        </p:txBody>
      </p:sp>
      <p:sp>
        <p:nvSpPr>
          <p:cNvPr id="3" name="Edge A-B"/>
          <p:cNvSpPr/>
          <p:nvPr/>
        </p:nvSpPr>
        <p:spPr>
          <a:xfrm flipV="1">
            <a:off x="914400" y="2286000"/>
            <a:ext cx="2194560" cy="137160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4" name="Edge A-C"/>
          <p:cNvSpPr/>
          <p:nvPr/>
        </p:nvSpPr>
        <p:spPr>
          <a:xfrm>
            <a:off x="914400" y="3657600"/>
            <a:ext cx="2194560" cy="137160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5" name="Edge B-C"/>
          <p:cNvSpPr/>
          <p:nvPr/>
        </p:nvSpPr>
        <p:spPr>
          <a:xfrm>
            <a:off x="3108960" y="2286000"/>
            <a:ext cx="0" cy="274320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6" name="Edge B-D"/>
          <p:cNvSpPr/>
          <p:nvPr/>
        </p:nvSpPr>
        <p:spPr>
          <a:xfrm>
            <a:off x="3108960" y="2286000"/>
            <a:ext cx="246888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7" name="Edge C-D"/>
          <p:cNvSpPr/>
          <p:nvPr/>
        </p:nvSpPr>
        <p:spPr>
          <a:xfrm flipV="1">
            <a:off x="3108960" y="2286000"/>
            <a:ext cx="2468880" cy="274320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8" name="Edge C-E"/>
          <p:cNvSpPr/>
          <p:nvPr/>
        </p:nvSpPr>
        <p:spPr>
          <a:xfrm>
            <a:off x="3108960" y="5029200"/>
            <a:ext cx="246888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9" name="Edge D-E"/>
          <p:cNvSpPr/>
          <p:nvPr/>
        </p:nvSpPr>
        <p:spPr>
          <a:xfrm>
            <a:off x="5577840" y="2286000"/>
            <a:ext cx="0" cy="274320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10" name="Weight A-B"/>
          <p:cNvSpPr txBox="1"/>
          <p:nvPr/>
        </p:nvSpPr>
        <p:spPr>
          <a:xfrm>
            <a:off x="1801368" y="281635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1" name="Weight A-C"/>
          <p:cNvSpPr txBox="1"/>
          <p:nvPr/>
        </p:nvSpPr>
        <p:spPr>
          <a:xfrm>
            <a:off x="1801368" y="418795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Weight B-C"/>
          <p:cNvSpPr txBox="1"/>
          <p:nvPr/>
        </p:nvSpPr>
        <p:spPr>
          <a:xfrm>
            <a:off x="2898648" y="350215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Weight B-D"/>
          <p:cNvSpPr txBox="1"/>
          <p:nvPr/>
        </p:nvSpPr>
        <p:spPr>
          <a:xfrm>
            <a:off x="4133088" y="213055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</a:t>
            </a:r>
            <a:endParaRPr lang="en-US" sz="1400" dirty="0"/>
          </a:p>
        </p:txBody>
      </p:sp>
      <p:sp>
        <p:nvSpPr>
          <p:cNvPr id="14" name="Weight C-D"/>
          <p:cNvSpPr txBox="1"/>
          <p:nvPr/>
        </p:nvSpPr>
        <p:spPr>
          <a:xfrm>
            <a:off x="4133088" y="350215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8</a:t>
            </a:r>
            <a:endParaRPr lang="en-US" sz="1400" dirty="0"/>
          </a:p>
        </p:txBody>
      </p:sp>
      <p:sp>
        <p:nvSpPr>
          <p:cNvPr id="15" name="Weight C-E"/>
          <p:cNvSpPr txBox="1"/>
          <p:nvPr/>
        </p:nvSpPr>
        <p:spPr>
          <a:xfrm>
            <a:off x="4133088" y="487375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10</a:t>
            </a:r>
            <a:endParaRPr lang="en-US" sz="1400" dirty="0"/>
          </a:p>
        </p:txBody>
      </p:sp>
      <p:sp>
        <p:nvSpPr>
          <p:cNvPr id="16" name="Weight D-E"/>
          <p:cNvSpPr txBox="1"/>
          <p:nvPr/>
        </p:nvSpPr>
        <p:spPr>
          <a:xfrm>
            <a:off x="5367528" y="350215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Node A"/>
          <p:cNvSpPr txBox="1"/>
          <p:nvPr/>
        </p:nvSpPr>
        <p:spPr>
          <a:xfrm>
            <a:off x="594360" y="3337560"/>
            <a:ext cx="640080" cy="64008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</a:t>
            </a:r>
            <a:endParaRPr lang="en-US" sz="2200" dirty="0"/>
          </a:p>
        </p:txBody>
      </p:sp>
      <p:sp>
        <p:nvSpPr>
          <p:cNvPr id="18" name="Node B"/>
          <p:cNvSpPr txBox="1"/>
          <p:nvPr/>
        </p:nvSpPr>
        <p:spPr>
          <a:xfrm>
            <a:off x="2788920" y="1965960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B</a:t>
            </a:r>
            <a:endParaRPr lang="en-US" sz="2200" dirty="0"/>
          </a:p>
        </p:txBody>
      </p:sp>
      <p:sp>
        <p:nvSpPr>
          <p:cNvPr id="19" name="Node C"/>
          <p:cNvSpPr txBox="1"/>
          <p:nvPr/>
        </p:nvSpPr>
        <p:spPr>
          <a:xfrm>
            <a:off x="2788920" y="4709160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</a:t>
            </a:r>
            <a:endParaRPr lang="en-US" sz="2200" dirty="0"/>
          </a:p>
        </p:txBody>
      </p:sp>
      <p:sp>
        <p:nvSpPr>
          <p:cNvPr id="20" name="Node D"/>
          <p:cNvSpPr txBox="1"/>
          <p:nvPr/>
        </p:nvSpPr>
        <p:spPr>
          <a:xfrm>
            <a:off x="5257800" y="1965960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</a:t>
            </a:r>
            <a:endParaRPr lang="en-US" sz="2200" dirty="0"/>
          </a:p>
        </p:txBody>
      </p:sp>
      <p:sp>
        <p:nvSpPr>
          <p:cNvPr id="21" name="Node E"/>
          <p:cNvSpPr txBox="1"/>
          <p:nvPr/>
        </p:nvSpPr>
        <p:spPr>
          <a:xfrm>
            <a:off x="5257800" y="4709160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E</a:t>
            </a:r>
            <a:endParaRPr lang="en-US" sz="2200" dirty="0"/>
          </a:p>
        </p:txBody>
      </p:sp>
      <p:sp>
        <p:nvSpPr>
          <p:cNvPr id="22" name="Problem card"/>
          <p:cNvSpPr/>
          <p:nvPr/>
        </p:nvSpPr>
        <p:spPr>
          <a:xfrm>
            <a:off x="6766560" y="1554480"/>
            <a:ext cx="475488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Problem head"/>
          <p:cNvSpPr txBox="1"/>
          <p:nvPr/>
        </p:nvSpPr>
        <p:spPr>
          <a:xfrm>
            <a:off x="708660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Problem</a:t>
            </a:r>
            <a:endParaRPr lang="en-US" sz="2200" dirty="0"/>
          </a:p>
        </p:txBody>
      </p:sp>
      <p:sp>
        <p:nvSpPr>
          <p:cNvPr id="24" name="Problem text"/>
          <p:cNvSpPr txBox="1"/>
          <p:nvPr/>
        </p:nvSpPr>
        <p:spPr>
          <a:xfrm>
            <a:off x="7086600" y="23317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Find the shortest distance from source A to every other vertex.</a:t>
            </a:r>
            <a:endParaRPr lang="en-US" sz="1800" dirty="0"/>
          </a:p>
        </p:txBody>
      </p:sp>
      <p:sp>
        <p:nvSpPr>
          <p:cNvPr id="25" name="Edges head"/>
          <p:cNvSpPr txBox="1"/>
          <p:nvPr/>
        </p:nvSpPr>
        <p:spPr>
          <a:xfrm>
            <a:off x="7086600" y="3337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Edge weights</a:t>
            </a:r>
            <a:endParaRPr lang="en-US" sz="2200" dirty="0"/>
          </a:p>
        </p:txBody>
      </p:sp>
      <p:sp>
        <p:nvSpPr>
          <p:cNvPr id="26" name="Edge list"/>
          <p:cNvSpPr txBox="1"/>
          <p:nvPr/>
        </p:nvSpPr>
        <p:spPr>
          <a:xfrm>
            <a:off x="7086600" y="38404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A–B = 4     A–C = 2     B–C = 1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B–D = 5     C–D = 8     C–E = 10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D–E = 2</a:t>
            </a:r>
            <a:endParaRPr lang="en-US" sz="1800" dirty="0"/>
          </a:p>
        </p:txBody>
      </p:sp>
      <p:sp>
        <p:nvSpPr>
          <p:cNvPr id="27" name="Legend dot"/>
          <p:cNvSpPr/>
          <p:nvPr/>
        </p:nvSpPr>
        <p:spPr>
          <a:xfrm>
            <a:off x="7086600" y="525780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Legend text"/>
          <p:cNvSpPr txBox="1"/>
          <p:nvPr/>
        </p:nvSpPr>
        <p:spPr>
          <a:xfrm>
            <a:off x="7498080" y="5212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is the source vertex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Step-by-Step Execution</a:t>
            </a:r>
            <a:endParaRPr lang="en-US" sz="3600" dirty="0"/>
          </a:p>
        </p:txBody>
      </p:sp>
      <p:graphicFrame>
        <p:nvGraphicFramePr>
          <p:cNvPr id="8" name="Execu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1499616"/>
                <a:gridCol w="1499616"/>
                <a:gridCol w="1499616"/>
                <a:gridCol w="1499616"/>
                <a:gridCol w="1499616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Vertex picked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dist[A]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dist[B]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dist[C]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dist[D]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dist[E]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Init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–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∞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∞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∞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∞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A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4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∞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∞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C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10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12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B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B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8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12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4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D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8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10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B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5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B3A"/>
                          </a:solidFill>
                        </a:rPr>
                        <a:t>E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8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A"/>
                          </a:solidFill>
                        </a:rPr>
                        <a:t>10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</a:tbl>
          </a:graphicData>
        </a:graphic>
      </p:graphicFrame>
      <p:sp>
        <p:nvSpPr>
          <p:cNvPr id="4" name="Legend swatch"/>
          <p:cNvSpPr/>
          <p:nvPr/>
        </p:nvSpPr>
        <p:spPr>
          <a:xfrm>
            <a:off x="640080" y="5303520"/>
            <a:ext cx="274320" cy="274320"/>
          </a:xfrm>
          <a:prstGeom prst="rect">
            <a:avLst/>
          </a:prstGeom>
          <a:solidFill>
            <a:srgbClr val="FDE3B0"/>
          </a:solidFill>
          <a:ln/>
        </p:spPr>
      </p:sp>
      <p:sp>
        <p:nvSpPr>
          <p:cNvPr id="5" name="Legend"/>
          <p:cNvSpPr txBox="1"/>
          <p:nvPr/>
        </p:nvSpPr>
        <p:spPr>
          <a:xfrm>
            <a:off x="1051560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Highlighted cell = distance updated (relaxed) in that step</a:t>
            </a:r>
            <a:endParaRPr lang="en-US" sz="1600" dirty="0"/>
          </a:p>
        </p:txBody>
      </p:sp>
      <p:sp>
        <p:nvSpPr>
          <p:cNvPr id="6" name="Insight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Notice: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 is first 12 (via C), then improves to 10 (via B → D).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Result: Shortest Paths from A</a:t>
            </a:r>
            <a:endParaRPr lang="en-US" sz="3600" dirty="0"/>
          </a:p>
        </p:txBody>
      </p:sp>
      <p:sp>
        <p:nvSpPr>
          <p:cNvPr id="3" name="Edge A-B"/>
          <p:cNvSpPr/>
          <p:nvPr/>
        </p:nvSpPr>
        <p:spPr>
          <a:xfrm flipV="1">
            <a:off x="914400" y="2103120"/>
            <a:ext cx="2194560" cy="137160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4" name="Edge A-C"/>
          <p:cNvSpPr/>
          <p:nvPr/>
        </p:nvSpPr>
        <p:spPr>
          <a:xfrm>
            <a:off x="914400" y="3474720"/>
            <a:ext cx="2194560" cy="1371600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</a:ln>
        </p:spPr>
      </p:sp>
      <p:sp>
        <p:nvSpPr>
          <p:cNvPr id="5" name="Edge B-C"/>
          <p:cNvSpPr/>
          <p:nvPr/>
        </p:nvSpPr>
        <p:spPr>
          <a:xfrm>
            <a:off x="3108960" y="2103120"/>
            <a:ext cx="0" cy="2743200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</a:ln>
        </p:spPr>
      </p:sp>
      <p:sp>
        <p:nvSpPr>
          <p:cNvPr id="6" name="Edge B-D"/>
          <p:cNvSpPr/>
          <p:nvPr/>
        </p:nvSpPr>
        <p:spPr>
          <a:xfrm>
            <a:off x="3108960" y="2103120"/>
            <a:ext cx="2468880" cy="0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</a:ln>
        </p:spPr>
      </p:sp>
      <p:sp>
        <p:nvSpPr>
          <p:cNvPr id="7" name="Edge C-D"/>
          <p:cNvSpPr/>
          <p:nvPr/>
        </p:nvSpPr>
        <p:spPr>
          <a:xfrm flipV="1">
            <a:off x="3108960" y="2103120"/>
            <a:ext cx="2468880" cy="274320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8" name="Edge C-E"/>
          <p:cNvSpPr/>
          <p:nvPr/>
        </p:nvSpPr>
        <p:spPr>
          <a:xfrm>
            <a:off x="3108960" y="4846320"/>
            <a:ext cx="246888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9" name="Edge D-E"/>
          <p:cNvSpPr/>
          <p:nvPr/>
        </p:nvSpPr>
        <p:spPr>
          <a:xfrm>
            <a:off x="5577840" y="2103120"/>
            <a:ext cx="0" cy="2743200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</a:ln>
        </p:spPr>
      </p:sp>
      <p:sp>
        <p:nvSpPr>
          <p:cNvPr id="10" name="Weight A-B"/>
          <p:cNvSpPr txBox="1"/>
          <p:nvPr/>
        </p:nvSpPr>
        <p:spPr>
          <a:xfrm>
            <a:off x="1801368" y="263347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1" name="Weight A-C"/>
          <p:cNvSpPr txBox="1"/>
          <p:nvPr/>
        </p:nvSpPr>
        <p:spPr>
          <a:xfrm>
            <a:off x="1801368" y="400507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Weight B-C"/>
          <p:cNvSpPr txBox="1"/>
          <p:nvPr/>
        </p:nvSpPr>
        <p:spPr>
          <a:xfrm>
            <a:off x="2898648" y="331927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Weight B-D"/>
          <p:cNvSpPr txBox="1"/>
          <p:nvPr/>
        </p:nvSpPr>
        <p:spPr>
          <a:xfrm>
            <a:off x="4133088" y="194767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</a:t>
            </a:r>
            <a:endParaRPr lang="en-US" sz="1400" dirty="0"/>
          </a:p>
        </p:txBody>
      </p:sp>
      <p:sp>
        <p:nvSpPr>
          <p:cNvPr id="14" name="Weight C-D"/>
          <p:cNvSpPr txBox="1"/>
          <p:nvPr/>
        </p:nvSpPr>
        <p:spPr>
          <a:xfrm>
            <a:off x="4133088" y="331927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8</a:t>
            </a:r>
            <a:endParaRPr lang="en-US" sz="1400" dirty="0"/>
          </a:p>
        </p:txBody>
      </p:sp>
      <p:sp>
        <p:nvSpPr>
          <p:cNvPr id="15" name="Weight C-E"/>
          <p:cNvSpPr txBox="1"/>
          <p:nvPr/>
        </p:nvSpPr>
        <p:spPr>
          <a:xfrm>
            <a:off x="4133088" y="469087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10</a:t>
            </a:r>
            <a:endParaRPr lang="en-US" sz="1400" dirty="0"/>
          </a:p>
        </p:txBody>
      </p:sp>
      <p:sp>
        <p:nvSpPr>
          <p:cNvPr id="16" name="Weight D-E"/>
          <p:cNvSpPr txBox="1"/>
          <p:nvPr/>
        </p:nvSpPr>
        <p:spPr>
          <a:xfrm>
            <a:off x="5367528" y="3319272"/>
            <a:ext cx="420624" cy="310896"/>
          </a:xfrm>
          <a:prstGeom prst="roundRect">
            <a:avLst>
              <a:gd name="adj" fmla="val 29412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Node A"/>
          <p:cNvSpPr txBox="1"/>
          <p:nvPr/>
        </p:nvSpPr>
        <p:spPr>
          <a:xfrm>
            <a:off x="594360" y="3154680"/>
            <a:ext cx="640080" cy="64008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</a:t>
            </a:r>
            <a:endParaRPr lang="en-US" sz="2200" dirty="0"/>
          </a:p>
        </p:txBody>
      </p:sp>
      <p:sp>
        <p:nvSpPr>
          <p:cNvPr id="18" name="Distance A"/>
          <p:cNvSpPr txBox="1"/>
          <p:nvPr/>
        </p:nvSpPr>
        <p:spPr>
          <a:xfrm>
            <a:off x="548640" y="3867912"/>
            <a:ext cx="731520" cy="310896"/>
          </a:xfrm>
          <a:prstGeom prst="roundRect">
            <a:avLst>
              <a:gd name="adj" fmla="val 29412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 = 0</a:t>
            </a:r>
            <a:endParaRPr lang="en-US" sz="1400" dirty="0"/>
          </a:p>
        </p:txBody>
      </p:sp>
      <p:sp>
        <p:nvSpPr>
          <p:cNvPr id="19" name="Node B"/>
          <p:cNvSpPr txBox="1"/>
          <p:nvPr/>
        </p:nvSpPr>
        <p:spPr>
          <a:xfrm>
            <a:off x="2788920" y="1783080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B</a:t>
            </a:r>
            <a:endParaRPr lang="en-US" sz="2200" dirty="0"/>
          </a:p>
        </p:txBody>
      </p:sp>
      <p:sp>
        <p:nvSpPr>
          <p:cNvPr id="20" name="Distance B"/>
          <p:cNvSpPr txBox="1"/>
          <p:nvPr/>
        </p:nvSpPr>
        <p:spPr>
          <a:xfrm>
            <a:off x="2743200" y="2496312"/>
            <a:ext cx="731520" cy="310896"/>
          </a:xfrm>
          <a:prstGeom prst="roundRect">
            <a:avLst>
              <a:gd name="adj" fmla="val 29412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 = 3</a:t>
            </a:r>
            <a:endParaRPr lang="en-US" sz="1400" dirty="0"/>
          </a:p>
        </p:txBody>
      </p:sp>
      <p:sp>
        <p:nvSpPr>
          <p:cNvPr id="21" name="Node C"/>
          <p:cNvSpPr txBox="1"/>
          <p:nvPr/>
        </p:nvSpPr>
        <p:spPr>
          <a:xfrm>
            <a:off x="2788920" y="4526280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</a:t>
            </a:r>
            <a:endParaRPr lang="en-US" sz="2200" dirty="0"/>
          </a:p>
        </p:txBody>
      </p:sp>
      <p:sp>
        <p:nvSpPr>
          <p:cNvPr id="22" name="Distance C"/>
          <p:cNvSpPr txBox="1"/>
          <p:nvPr/>
        </p:nvSpPr>
        <p:spPr>
          <a:xfrm>
            <a:off x="2743200" y="5239512"/>
            <a:ext cx="731520" cy="310896"/>
          </a:xfrm>
          <a:prstGeom prst="roundRect">
            <a:avLst>
              <a:gd name="adj" fmla="val 29412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 = 2</a:t>
            </a:r>
            <a:endParaRPr lang="en-US" sz="1400" dirty="0"/>
          </a:p>
        </p:txBody>
      </p:sp>
      <p:sp>
        <p:nvSpPr>
          <p:cNvPr id="23" name="Node D"/>
          <p:cNvSpPr txBox="1"/>
          <p:nvPr/>
        </p:nvSpPr>
        <p:spPr>
          <a:xfrm>
            <a:off x="5257800" y="1783080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</a:t>
            </a:r>
            <a:endParaRPr lang="en-US" sz="2200" dirty="0"/>
          </a:p>
        </p:txBody>
      </p:sp>
      <p:sp>
        <p:nvSpPr>
          <p:cNvPr id="24" name="Distance D"/>
          <p:cNvSpPr txBox="1"/>
          <p:nvPr/>
        </p:nvSpPr>
        <p:spPr>
          <a:xfrm>
            <a:off x="5212080" y="2496312"/>
            <a:ext cx="731520" cy="310896"/>
          </a:xfrm>
          <a:prstGeom prst="roundRect">
            <a:avLst>
              <a:gd name="adj" fmla="val 29412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 = 8</a:t>
            </a:r>
            <a:endParaRPr lang="en-US" sz="1400" dirty="0"/>
          </a:p>
        </p:txBody>
      </p:sp>
      <p:sp>
        <p:nvSpPr>
          <p:cNvPr id="25" name="Node E"/>
          <p:cNvSpPr txBox="1"/>
          <p:nvPr/>
        </p:nvSpPr>
        <p:spPr>
          <a:xfrm>
            <a:off x="5257800" y="4526280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E</a:t>
            </a:r>
            <a:endParaRPr lang="en-US" sz="2200" dirty="0"/>
          </a:p>
        </p:txBody>
      </p:sp>
      <p:sp>
        <p:nvSpPr>
          <p:cNvPr id="26" name="Distance E"/>
          <p:cNvSpPr txBox="1"/>
          <p:nvPr/>
        </p:nvSpPr>
        <p:spPr>
          <a:xfrm>
            <a:off x="5212080" y="5239512"/>
            <a:ext cx="731520" cy="310896"/>
          </a:xfrm>
          <a:prstGeom prst="roundRect">
            <a:avLst>
              <a:gd name="adj" fmla="val 29412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 = 10</a:t>
            </a:r>
            <a:endParaRPr lang="en-US" sz="1400" dirty="0"/>
          </a:p>
        </p:txBody>
      </p:sp>
      <p:sp>
        <p:nvSpPr>
          <p:cNvPr id="27" name="Graph caption"/>
          <p:cNvSpPr txBox="1"/>
          <p:nvPr/>
        </p:nvSpPr>
        <p:spPr>
          <a:xfrm>
            <a:off x="640080" y="58521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Amber edges form the shortest-path tree</a:t>
            </a:r>
            <a:endParaRPr lang="en-US" sz="1400" dirty="0"/>
          </a:p>
        </p:txBody>
      </p:sp>
      <p:graphicFrame>
        <p:nvGraphicFramePr>
          <p:cNvPr id="9" name="Resul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645920"/>
          <a:ext cx="47548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05840"/>
                <a:gridCol w="28346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Vertex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Distance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Shortest path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B3A"/>
                          </a:solidFill>
                        </a:rPr>
                        <a:t>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B3A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B3A"/>
                          </a:solidFill>
                        </a:rPr>
                        <a:t>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B3A"/>
                          </a:solidFill>
                        </a:rPr>
                        <a:t>B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B3A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B3A"/>
                          </a:solidFill>
                        </a:rPr>
                        <a:t>A → C → B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B3A"/>
                          </a:solidFill>
                        </a:rPr>
                        <a:t>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B3A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B3A"/>
                          </a:solidFill>
                        </a:rPr>
                        <a:t>A → 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B3A"/>
                          </a:solidFill>
                        </a:rPr>
                        <a:t>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B3A"/>
                          </a:solidFill>
                        </a:rPr>
                        <a:t>8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B3A"/>
                          </a:solidFill>
                        </a:rPr>
                        <a:t>A → C → B → 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B3A"/>
                          </a:solidFill>
                        </a:rPr>
                        <a:t>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B3A"/>
                          </a:solidFill>
                        </a:rPr>
                        <a:t>10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B3A"/>
                          </a:solidFill>
                        </a:rPr>
                        <a:t>A → C → B → D → 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Result insight"/>
          <p:cNvSpPr txBox="1"/>
          <p:nvPr/>
        </p:nvSpPr>
        <p:spPr>
          <a:xfrm>
            <a:off x="6766560" y="52578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The direct route to E via C costs 12, but the shortest path costs </a:t>
            </a:r>
            <a:pPr indent="0" marL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10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Time and Space Complexity</a:t>
            </a:r>
            <a:endParaRPr lang="en-US" sz="3600" dirty="0"/>
          </a:p>
        </p:txBody>
      </p:sp>
      <p:sp>
        <p:nvSpPr>
          <p:cNvPr id="3" name="Complexity card 1"/>
          <p:cNvSpPr/>
          <p:nvPr/>
        </p:nvSpPr>
        <p:spPr>
          <a:xfrm>
            <a:off x="640080" y="155448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mpl name 1"/>
          <p:cNvSpPr txBox="1"/>
          <p:nvPr/>
        </p:nvSpPr>
        <p:spPr>
          <a:xfrm>
            <a:off x="960120" y="1874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Array / simple list</a:t>
            </a:r>
            <a:endParaRPr lang="en-US" sz="1800" dirty="0"/>
          </a:p>
        </p:txBody>
      </p:sp>
      <p:sp>
        <p:nvSpPr>
          <p:cNvPr id="5" name="Impl bigO 1"/>
          <p:cNvSpPr txBox="1"/>
          <p:nvPr/>
        </p:nvSpPr>
        <p:spPr>
          <a:xfrm>
            <a:off x="960120" y="2560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O(V²)</a:t>
            </a:r>
            <a:endParaRPr lang="en-US" sz="2600" dirty="0"/>
          </a:p>
        </p:txBody>
      </p:sp>
      <p:sp>
        <p:nvSpPr>
          <p:cNvPr id="6" name="Impl note 1"/>
          <p:cNvSpPr txBox="1"/>
          <p:nvPr/>
        </p:nvSpPr>
        <p:spPr>
          <a:xfrm>
            <a:off x="960120" y="35661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Simple; good for dense graphs</a:t>
            </a:r>
            <a:endParaRPr lang="en-US" sz="1600" dirty="0"/>
          </a:p>
        </p:txBody>
      </p:sp>
      <p:sp>
        <p:nvSpPr>
          <p:cNvPr id="7" name="Complexity card 2"/>
          <p:cNvSpPr/>
          <p:nvPr/>
        </p:nvSpPr>
        <p:spPr>
          <a:xfrm>
            <a:off x="4343400" y="155448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Impl name 2"/>
          <p:cNvSpPr txBox="1"/>
          <p:nvPr/>
        </p:nvSpPr>
        <p:spPr>
          <a:xfrm>
            <a:off x="4663440" y="1874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Binary heap</a:t>
            </a:r>
            <a:endParaRPr lang="en-US" sz="1800" dirty="0"/>
          </a:p>
        </p:txBody>
      </p:sp>
      <p:sp>
        <p:nvSpPr>
          <p:cNvPr id="9" name="Impl bigO 2"/>
          <p:cNvSpPr txBox="1"/>
          <p:nvPr/>
        </p:nvSpPr>
        <p:spPr>
          <a:xfrm>
            <a:off x="4663440" y="2560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O((V + E) log V)</a:t>
            </a:r>
            <a:endParaRPr lang="en-US" sz="2600" dirty="0"/>
          </a:p>
        </p:txBody>
      </p:sp>
      <p:sp>
        <p:nvSpPr>
          <p:cNvPr id="10" name="Impl note 2"/>
          <p:cNvSpPr txBox="1"/>
          <p:nvPr/>
        </p:nvSpPr>
        <p:spPr>
          <a:xfrm>
            <a:off x="4663440" y="35661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The most common choice</a:t>
            </a:r>
            <a:endParaRPr lang="en-US" sz="1600" dirty="0"/>
          </a:p>
        </p:txBody>
      </p:sp>
      <p:sp>
        <p:nvSpPr>
          <p:cNvPr id="11" name="Complexity card 3"/>
          <p:cNvSpPr/>
          <p:nvPr/>
        </p:nvSpPr>
        <p:spPr>
          <a:xfrm>
            <a:off x="8046720" y="155448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Impl name 3"/>
          <p:cNvSpPr txBox="1"/>
          <p:nvPr/>
        </p:nvSpPr>
        <p:spPr>
          <a:xfrm>
            <a:off x="8366760" y="1874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Fibonacci heap</a:t>
            </a:r>
            <a:endParaRPr lang="en-US" sz="1800" dirty="0"/>
          </a:p>
        </p:txBody>
      </p:sp>
      <p:sp>
        <p:nvSpPr>
          <p:cNvPr id="13" name="Impl bigO 3"/>
          <p:cNvSpPr txBox="1"/>
          <p:nvPr/>
        </p:nvSpPr>
        <p:spPr>
          <a:xfrm>
            <a:off x="8366760" y="2560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O(E + V log V)</a:t>
            </a:r>
            <a:endParaRPr lang="en-US" sz="2600" dirty="0"/>
          </a:p>
        </p:txBody>
      </p:sp>
      <p:sp>
        <p:nvSpPr>
          <p:cNvPr id="14" name="Impl note 3"/>
          <p:cNvSpPr txBox="1"/>
          <p:nvPr/>
        </p:nvSpPr>
        <p:spPr>
          <a:xfrm>
            <a:off x="8366760" y="35661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Best theoretical bound</a:t>
            </a:r>
            <a:endParaRPr lang="en-US" sz="1600" dirty="0"/>
          </a:p>
        </p:txBody>
      </p:sp>
      <p:sp>
        <p:nvSpPr>
          <p:cNvPr id="15" name="Space banner"/>
          <p:cNvSpPr/>
          <p:nvPr/>
        </p:nvSpPr>
        <p:spPr>
          <a:xfrm>
            <a:off x="640080" y="4846320"/>
            <a:ext cx="1088136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16" name="Space text"/>
          <p:cNvSpPr txBox="1"/>
          <p:nvPr/>
        </p:nvSpPr>
        <p:spPr>
          <a:xfrm>
            <a:off x="1005840" y="484632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Space complexity: </a:t>
            </a:r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O(V)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  for dist[ ], prev[ ] and the priority queue</a:t>
            </a:r>
            <a:endParaRPr lang="en-US" sz="2000" dirty="0"/>
          </a:p>
        </p:txBody>
      </p:sp>
      <p:sp>
        <p:nvSpPr>
          <p:cNvPr id="17" name="Legend V E"/>
          <p:cNvSpPr txBox="1"/>
          <p:nvPr/>
        </p:nvSpPr>
        <p:spPr>
          <a:xfrm>
            <a:off x="640080" y="5897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 = number of vertices,  E = number of edges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Applications and Limitations</a:t>
            </a:r>
            <a:endParaRPr lang="en-US" sz="3600" dirty="0"/>
          </a:p>
        </p:txBody>
      </p:sp>
      <p:sp>
        <p:nvSpPr>
          <p:cNvPr id="3" name="App tile 1"/>
          <p:cNvSpPr/>
          <p:nvPr/>
        </p:nvSpPr>
        <p:spPr>
          <a:xfrm>
            <a:off x="640080" y="1554480"/>
            <a:ext cx="274320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App 1 circle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pp 1 icon" descr="App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11680"/>
            <a:ext cx="365760" cy="365760"/>
          </a:xfrm>
          <a:prstGeom prst="rect">
            <a:avLst/>
          </a:prstGeom>
        </p:spPr>
      </p:pic>
      <p:sp>
        <p:nvSpPr>
          <p:cNvPr id="6" name="App label 1"/>
          <p:cNvSpPr txBox="1"/>
          <p:nvPr/>
        </p:nvSpPr>
        <p:spPr>
          <a:xfrm>
            <a:off x="914400" y="2743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GPS and maps</a:t>
            </a:r>
            <a:endParaRPr lang="en-US" sz="1800" dirty="0"/>
          </a:p>
        </p:txBody>
      </p:sp>
      <p:sp>
        <p:nvSpPr>
          <p:cNvPr id="7" name="App tile 2"/>
          <p:cNvSpPr/>
          <p:nvPr/>
        </p:nvSpPr>
        <p:spPr>
          <a:xfrm>
            <a:off x="3657600" y="1554480"/>
            <a:ext cx="274320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App 2 circle"/>
          <p:cNvSpPr/>
          <p:nvPr/>
        </p:nvSpPr>
        <p:spPr>
          <a:xfrm>
            <a:off x="3931920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App 2 icon" descr="App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011680"/>
            <a:ext cx="365760" cy="365760"/>
          </a:xfrm>
          <a:prstGeom prst="rect">
            <a:avLst/>
          </a:prstGeom>
        </p:spPr>
      </p:pic>
      <p:sp>
        <p:nvSpPr>
          <p:cNvPr id="10" name="App label 2"/>
          <p:cNvSpPr txBox="1"/>
          <p:nvPr/>
        </p:nvSpPr>
        <p:spPr>
          <a:xfrm>
            <a:off x="3931920" y="2743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Network routing (OSPF)</a:t>
            </a:r>
            <a:endParaRPr lang="en-US" sz="1800" dirty="0"/>
          </a:p>
        </p:txBody>
      </p:sp>
      <p:sp>
        <p:nvSpPr>
          <p:cNvPr id="11" name="App tile 3"/>
          <p:cNvSpPr/>
          <p:nvPr/>
        </p:nvSpPr>
        <p:spPr>
          <a:xfrm>
            <a:off x="640080" y="3749040"/>
            <a:ext cx="274320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App 3 circle"/>
          <p:cNvSpPr/>
          <p:nvPr/>
        </p:nvSpPr>
        <p:spPr>
          <a:xfrm>
            <a:off x="914400" y="4023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App 3 icon" descr="App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206240"/>
            <a:ext cx="365760" cy="365760"/>
          </a:xfrm>
          <a:prstGeom prst="rect">
            <a:avLst/>
          </a:prstGeom>
        </p:spPr>
      </p:pic>
      <p:sp>
        <p:nvSpPr>
          <p:cNvPr id="14" name="App label 3"/>
          <p:cNvSpPr txBox="1"/>
          <p:nvPr/>
        </p:nvSpPr>
        <p:spPr>
          <a:xfrm>
            <a:off x="914400" y="4937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Flight and travel planning</a:t>
            </a:r>
            <a:endParaRPr lang="en-US" sz="1800" dirty="0"/>
          </a:p>
        </p:txBody>
      </p:sp>
      <p:sp>
        <p:nvSpPr>
          <p:cNvPr id="15" name="App tile 4"/>
          <p:cNvSpPr/>
          <p:nvPr/>
        </p:nvSpPr>
        <p:spPr>
          <a:xfrm>
            <a:off x="3657600" y="3749040"/>
            <a:ext cx="274320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App 4 circle"/>
          <p:cNvSpPr/>
          <p:nvPr/>
        </p:nvSpPr>
        <p:spPr>
          <a:xfrm>
            <a:off x="3931920" y="4023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App 4 icon" descr="App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4206240"/>
            <a:ext cx="365760" cy="365760"/>
          </a:xfrm>
          <a:prstGeom prst="rect">
            <a:avLst/>
          </a:prstGeom>
        </p:spPr>
      </p:pic>
      <p:sp>
        <p:nvSpPr>
          <p:cNvPr id="18" name="App label 4"/>
          <p:cNvSpPr txBox="1"/>
          <p:nvPr/>
        </p:nvSpPr>
        <p:spPr>
          <a:xfrm>
            <a:off x="3931920" y="4937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Game pathfinding</a:t>
            </a:r>
            <a:endParaRPr lang="en-US" sz="1800" dirty="0"/>
          </a:p>
        </p:txBody>
      </p:sp>
      <p:sp>
        <p:nvSpPr>
          <p:cNvPr id="19" name="Limitations card"/>
          <p:cNvSpPr/>
          <p:nvPr/>
        </p:nvSpPr>
        <p:spPr>
          <a:xfrm>
            <a:off x="6858000" y="1554480"/>
            <a:ext cx="4663440" cy="41148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Limitations circle"/>
          <p:cNvSpPr/>
          <p:nvPr/>
        </p:nvSpPr>
        <p:spPr>
          <a:xfrm>
            <a:off x="7178040" y="182880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Limitations icon" descr="Limitation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2011680"/>
            <a:ext cx="365760" cy="365760"/>
          </a:xfrm>
          <a:prstGeom prst="rect">
            <a:avLst/>
          </a:prstGeom>
        </p:spPr>
      </p:pic>
      <p:sp>
        <p:nvSpPr>
          <p:cNvPr id="22" name="Limitations head"/>
          <p:cNvSpPr txBox="1"/>
          <p:nvPr/>
        </p:nvSpPr>
        <p:spPr>
          <a:xfrm>
            <a:off x="8138160" y="1828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Limitations</a:t>
            </a:r>
            <a:endParaRPr lang="en-US" sz="2200" dirty="0"/>
          </a:p>
        </p:txBody>
      </p:sp>
      <p:sp>
        <p:nvSpPr>
          <p:cNvPr id="23" name="Limitations list"/>
          <p:cNvSpPr txBox="1"/>
          <p:nvPr/>
        </p:nvSpPr>
        <p:spPr>
          <a:xfrm>
            <a:off x="7178040" y="2834640"/>
            <a:ext cx="4023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Gives wrong answers if any edge weight is negative (use Bellman–Ford)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Explores in every direction, so it can be slow for a single target (A* helps)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Needs the whole graph to be known in advance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Key Takeaways</a:t>
            </a:r>
            <a:endParaRPr lang="en-US" sz="4400" dirty="0"/>
          </a:p>
        </p:txBody>
      </p:sp>
      <p:sp>
        <p:nvSpPr>
          <p:cNvPr id="3" name="Takeaway 1"/>
          <p:cNvSpPr txBox="1"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</a:t>
            </a:r>
            <a:endParaRPr lang="en-US" sz="2200" dirty="0"/>
          </a:p>
        </p:txBody>
      </p:sp>
      <p:sp>
        <p:nvSpPr>
          <p:cNvPr id="4" name="Takeaway text 1"/>
          <p:cNvSpPr txBox="1"/>
          <p:nvPr/>
        </p:nvSpPr>
        <p:spPr>
          <a:xfrm>
            <a:off x="1828800" y="187452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Dijkstra finds the shortest path from one source to all vertices</a:t>
            </a:r>
            <a:endParaRPr lang="en-US" sz="2200" dirty="0"/>
          </a:p>
        </p:txBody>
      </p:sp>
      <p:sp>
        <p:nvSpPr>
          <p:cNvPr id="5" name="Takeaway 2"/>
          <p:cNvSpPr txBox="1"/>
          <p:nvPr/>
        </p:nvSpPr>
        <p:spPr>
          <a:xfrm>
            <a:off x="822960" y="30632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2</a:t>
            </a:r>
            <a:endParaRPr lang="en-US" sz="2200" dirty="0"/>
          </a:p>
        </p:txBody>
      </p:sp>
      <p:sp>
        <p:nvSpPr>
          <p:cNvPr id="6" name="Takeaway text 2"/>
          <p:cNvSpPr txBox="1"/>
          <p:nvPr/>
        </p:nvSpPr>
        <p:spPr>
          <a:xfrm>
            <a:off x="1828800" y="306324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It is greedy: settle the closest unvisited vertex, then relax its edges</a:t>
            </a:r>
            <a:endParaRPr lang="en-US" sz="2200" dirty="0"/>
          </a:p>
        </p:txBody>
      </p:sp>
      <p:sp>
        <p:nvSpPr>
          <p:cNvPr id="7" name="Takeaway 3"/>
          <p:cNvSpPr txBox="1"/>
          <p:nvPr/>
        </p:nvSpPr>
        <p:spPr>
          <a:xfrm>
            <a:off x="822960" y="42519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3</a:t>
            </a:r>
            <a:endParaRPr lang="en-US" sz="2200" dirty="0"/>
          </a:p>
        </p:txBody>
      </p:sp>
      <p:sp>
        <p:nvSpPr>
          <p:cNvPr id="8" name="Takeaway text 3"/>
          <p:cNvSpPr txBox="1"/>
          <p:nvPr/>
        </p:nvSpPr>
        <p:spPr>
          <a:xfrm>
            <a:off x="1828800" y="425196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Use it only with non-negative weights; a binary heap gives O((V + E) log V)</a:t>
            </a:r>
            <a:endParaRPr lang="en-US" sz="2200" dirty="0"/>
          </a:p>
        </p:txBody>
      </p:sp>
      <p:sp>
        <p:nvSpPr>
          <p:cNvPr id="9" name="AI credit"/>
          <p:cNvSpPr txBox="1"/>
          <p:nvPr/>
        </p:nvSpPr>
        <p:spPr>
          <a:xfrm>
            <a:off x="822960" y="5669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Generated using Claude</a:t>
            </a:r>
            <a:endParaRPr lang="en-US" sz="2400" dirty="0"/>
          </a:p>
        </p:txBody>
      </p:sp>
      <p:sp>
        <p:nvSpPr>
          <p:cNvPr id="10" name="Thank you"/>
          <p:cNvSpPr txBox="1"/>
          <p:nvPr/>
        </p:nvSpPr>
        <p:spPr>
          <a:xfrm>
            <a:off x="7680960" y="5669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Thank you</a:t>
            </a:r>
            <a:endParaRPr lang="en-US" sz="2400" dirty="0"/>
          </a:p>
        </p:txBody>
      </p:sp>
      <p:sp>
        <p:nvSpPr>
          <p:cNvPr id="11" name="Student details"/>
          <p:cNvSpPr txBox="1"/>
          <p:nvPr/>
        </p:nvSpPr>
        <p:spPr>
          <a:xfrm>
            <a:off x="6400800" y="6172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Anuj Dhamankar  |  PRN: 25070521255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jkstra Deck">
  <a:themeElements>
    <a:clrScheme name="Dijkstra Deck">
      <a:dk1>
        <a:srgbClr val="1B2B3A"/>
      </a:dk1>
      <a:lt1>
        <a:srgbClr val="FFFFFF"/>
      </a:lt1>
      <a:dk2>
        <a:srgbClr val="0B2A3C"/>
      </a:dk2>
      <a:lt2>
        <a:srgbClr val="EAF2F4"/>
      </a:lt2>
      <a:accent1>
        <a:srgbClr val="0E7C86"/>
      </a:accent1>
      <a:accent2>
        <a:srgbClr val="F5A623"/>
      </a:accent2>
      <a:accent3>
        <a:srgbClr val="1F4E79"/>
      </a:accent3>
      <a:accent4>
        <a:srgbClr val="2BB3A3"/>
      </a:accent4>
      <a:accent5>
        <a:srgbClr val="D9534F"/>
      </a:accent5>
      <a:accent6>
        <a:srgbClr val="7C8FA0"/>
      </a:accent6>
      <a:hlink>
        <a:srgbClr val="0E7C86"/>
      </a:hlink>
      <a:folHlink>
        <a:srgbClr val="7C8FA0"/>
      </a:folHlink>
    </a:clrScheme>
    <a:fontScheme name="Dijkstra Dec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Dijkstra's Algorithm</dc:title>
  <dc:subject>Design and Analysis of Algorithms</dc:subject>
  <dc:creator>PptxGenJS</dc:creator>
  <cp:lastModifiedBy>PptxGenJS</cp:lastModifiedBy>
  <cp:revision>1</cp:revision>
  <dcterms:created xsi:type="dcterms:W3CDTF">2026-10-17T18:21:09Z</dcterms:created>
  <dcterms:modified xsi:type="dcterms:W3CDTF">2026-10-17T18:21:09Z</dcterms:modified>
</cp:coreProperties>
</file>